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4"/>
  </p:sldMasterIdLst>
  <p:notesMasterIdLst>
    <p:notesMasterId r:id="rId17"/>
  </p:notesMasterIdLst>
  <p:handoutMasterIdLst>
    <p:handoutMasterId r:id="rId18"/>
  </p:handoutMasterIdLst>
  <p:sldIdLst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262" r:id="rId14"/>
    <p:sldId id="410" r:id="rId15"/>
    <p:sldId id="3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4C7F1D-93AC-46FC-C895-70FE7977C8CA}" name="Boris Gutkin" initials="BG" userId="S::Boris_Gutkin@epam.com::7b3db621-c480-4035-adea-0c6e709082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0"/>
    <a:srgbClr val="2590EE"/>
    <a:srgbClr val="4A71BD"/>
    <a:srgbClr val="0078C2"/>
    <a:srgbClr val="0047FF"/>
    <a:srgbClr val="000000"/>
    <a:srgbClr val="A0A0A0"/>
    <a:srgbClr val="010000"/>
    <a:srgbClr val="585757"/>
    <a:srgbClr val="08A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B2AA6-860D-BA44-B214-808DA7C29E66}" v="67" dt="2023-02-27T17:56:18.324"/>
    <p1510:client id="{F607A1CB-70FE-F34F-B6F4-526F3D6BBAF4}" v="14" dt="2023-02-27T23:19:29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/>
    <p:restoredTop sz="94648"/>
  </p:normalViewPr>
  <p:slideViewPr>
    <p:cSldViewPr snapToGrid="0">
      <p:cViewPr varScale="1">
        <p:scale>
          <a:sx n="90" d="100"/>
          <a:sy n="90" d="100"/>
        </p:scale>
        <p:origin x="22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Replace every [bracketed] prompt. Keep the pitch under 20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judge should get the whole idea from this slide in 30 seconds. Quantify the value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today's process and what goes wrong. Quantify impact on premium, loss ratio, cycle time or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the accelerator does end to end, and draw a hard line around what the hackathon build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sources, layers, AI components, the user interface and data flow. Mark what is AI vs rules. Replace boxes with your own diagram if preferred.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one transaction from input to decision. For each step, mark whether AI, rules or a human acts and what it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the actual technologies and why. Judges look for a build that is feasible in the hackathon window. Add how you will evaluate model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Paste a screenshot or wireframe into each frame. Keep captions to one line on what the user does and what AI content they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value to insurer outcomes: premium adequacy, loss ratio, expense ratio, speed. State baselines and targets and how you estimated them. Put the ROI formula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this becomes a reusable accelerator for client engagements, not a one-off demo. List support needed from organizers.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BE64C-8C5D-6F41-B4B2-4AE5FC1F4D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_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B3BCBD-094A-89F2-36B2-991FE93DA7AB}"/>
              </a:ext>
            </a:extLst>
          </p:cNvPr>
          <p:cNvSpPr/>
          <p:nvPr userDrawn="1"/>
        </p:nvSpPr>
        <p:spPr bwMode="auto"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AA22CD8-EFF5-B4F0-9996-5D1D7528FA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06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-G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8849588-3964-452F-8424-AEC7C9F26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-G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1F175C76-1AF3-1FC2-AED0-8D15C0D101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9600" y="2483117"/>
            <a:ext cx="7772400" cy="43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22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11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0D61D9-9731-8186-95AA-51476D66CB4B}"/>
              </a:ext>
            </a:extLst>
          </p:cNvPr>
          <p:cNvSpPr txBox="1"/>
          <p:nvPr userDrawn="1"/>
        </p:nvSpPr>
        <p:spPr>
          <a:xfrm>
            <a:off x="5347504" y="544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3882"/>
            <a:ext cx="347572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lang="en-US" sz="2000" b="1" i="0" kern="1200" dirty="0">
                <a:solidFill>
                  <a:schemeClr val="accent2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E69851-6AAB-66EC-0A76-12B276F29DA9}"/>
              </a:ext>
            </a:extLst>
          </p:cNvPr>
          <p:cNvSpPr/>
          <p:nvPr userDrawn="1"/>
        </p:nvSpPr>
        <p:spPr bwMode="auto">
          <a:xfrm>
            <a:off x="627063" y="647700"/>
            <a:ext cx="10929937" cy="5562600"/>
          </a:xfrm>
          <a:prstGeom prst="rect">
            <a:avLst/>
          </a:prstGeom>
          <a:gradFill flip="none" rotWithShape="1">
            <a:gsLst>
              <a:gs pos="45000">
                <a:schemeClr val="accent2">
                  <a:alpha val="36000"/>
                </a:schemeClr>
              </a:gs>
              <a:gs pos="100000">
                <a:srgbClr val="00F6FF"/>
              </a:gs>
              <a:gs pos="0">
                <a:schemeClr val="accent2">
                  <a:alpha val="5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7C6CED2-55A2-F179-4321-9EC646B48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4E2BBBC-80DF-5104-E076-20FB99B46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2E0E19A-C3CC-AE13-1EF9-7E889ADFC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D4D7A-E1F5-9D4D-D7A8-763291C906C5}"/>
              </a:ext>
            </a:extLst>
          </p:cNvPr>
          <p:cNvSpPr txBox="1"/>
          <p:nvPr userDrawn="1"/>
        </p:nvSpPr>
        <p:spPr>
          <a:xfrm>
            <a:off x="1066800" y="9855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409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7C6CED2-55A2-F179-4321-9EC646B48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4E2BBBC-80DF-5104-E076-20FB99B46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2E0E19A-C3CC-AE13-1EF9-7E889ADFC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D4D7A-E1F5-9D4D-D7A8-763291C906C5}"/>
              </a:ext>
            </a:extLst>
          </p:cNvPr>
          <p:cNvSpPr txBox="1"/>
          <p:nvPr userDrawn="1"/>
        </p:nvSpPr>
        <p:spPr>
          <a:xfrm>
            <a:off x="1066800" y="9855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77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08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67323A-6698-B4F8-D2C4-A0336BD7A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4BE38F8-DEB6-5998-7EB6-840C179B2E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57444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1F547D-7378-E8AC-FDF8-369B92791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BE70E68-FEAC-ABA3-6547-64F0048E25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D31E73-37D8-3F34-976E-F45C7FEB48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7063" y="1211252"/>
            <a:ext cx="10929937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225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63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968918"/>
            <a:ext cx="10917926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42827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AFA1B-F90B-A268-2F9C-CA4B17339CD9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81C1502-7D00-6809-E064-3AD5F4B76491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46B66AD-D607-C8A3-57EC-E66339B963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7C0DA62-EC5A-3013-921C-9A16F87EFE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722843"/>
            <a:ext cx="3725863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sz="2200" b="1" spc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42827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209EB-D467-51AD-6222-93834EA8B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75B6454-79A2-2746-023E-0F34DF1534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294A11-D525-F9FD-CBCE-E94EB50BD9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722843"/>
            <a:ext cx="372586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263655-ECC2-257F-AD6E-E4540DE158C5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C0358C-9119-8176-0FAF-2D0F448E696A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8E6BB-7FFB-90B2-6C94-3C04A7140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D4FCF7-37B3-4B6E-CA97-E77D60596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643DA5-5C9F-C799-B890-61FDCC674F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B2AFD80-10E1-6FE8-0BA3-7DB5BD0EF3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05165-68F7-9306-9E47-08C7A533D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D5A6C40-BA77-05F7-4448-95E3A5B805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29200" y="922229"/>
            <a:ext cx="65278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3F49A-017D-C885-C56A-C3FBB74B01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0B97B73-9848-B399-89CA-F3A8272EAD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49" y="1762728"/>
            <a:ext cx="10434623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C0EDD-AC36-F914-366E-69D6F90EE13C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23E1B07-F9BB-2FA8-4DF6-A285A2B35D36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BB2CD-DBED-9BF2-22EE-06847388DA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7FCFF33-D049-FF15-5CC0-4097F2EF3B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24673-46D9-F66F-D8AA-1868CFC21AC5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60B1A1-7081-6436-518E-306A74CAA7C5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BAD15E-B7C3-EF9C-7FB3-73E703417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833662F-D4EC-7E5B-F24F-AC7D0C84BF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chemeClr val="accent4"/>
                    </a:gs>
                    <a:gs pos="69000">
                      <a:schemeClr val="accent5"/>
                    </a:gs>
                    <a:gs pos="99000">
                      <a:schemeClr val="accent3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E8781-CC1D-4C98-DC9D-E92211A0FF4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EB90660-EDDB-AFF8-F760-00811B862BF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6D463D-6B94-0B73-6941-3200405EB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FB280B8-B919-4994-C32C-9E2358C40D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1168C-27E6-70A9-36C3-AE546E841C2A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D8F7163-12E6-F27D-EEBA-98BF26708D37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A8FDC3-1268-C24A-5234-3DDF83EB1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E0F55-2297-4649-F757-CAFDD1ABDBB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5D602B7-0154-AEB7-239F-256AAF330C1E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0D3FD-5BB0-B0D6-A198-2CC86E6DA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64F61-C0FA-0C91-5963-6E2A72BAE0EC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3B925E-92C3-987F-0FC0-AE8EC43ABC3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539AA1-06E4-9967-8A01-AA1CC6BF55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413724-DF6D-A95C-8C60-B1166F8320F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_People_3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87CB6C0-A169-C8C1-E769-E9DEDFE85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gradFill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  <a:gs pos="71000">
                      <a:schemeClr val="accent2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3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4CE3CF-1C4D-3D01-143D-CF6CDCBD2F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DAE605C-196F-F337-1606-FFE4407B2E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EFE8D-5911-2CF9-B876-42825B8CB9A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61EEB86-2BDF-0331-DAC7-4CB25CC0C311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0FC7E8-8650-C8C3-33C5-35DD5299DD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78226D6-C70F-7F41-A49D-D155A4650A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0C373F2-39D4-5FF7-946C-A7DC7E1B466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61A5100-8F72-3104-759D-00BAB367B1A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1714501"/>
            <a:ext cx="10929937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063" y="2252472"/>
            <a:ext cx="10929937" cy="1136904"/>
          </a:xfrm>
          <a:prstGeom prst="rect">
            <a:avLst/>
          </a:prstGeom>
        </p:spPr>
        <p:txBody>
          <a:bodyPr/>
          <a:lstStyle>
            <a:lvl1pPr>
              <a:lnSpc>
                <a:spcPts val="1800"/>
              </a:lnSpc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2A43B-3D79-101B-16B9-5A730D078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6C36364-1C0F-5032-1D5A-5E78ECFC1A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7D5499-0685-B5EC-CFEF-2F1381E2A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2B72EAA-7B3A-08E8-5F97-A36DD17741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D597AFE-3DDF-B264-B83C-C62A3F7CCC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1714501"/>
            <a:ext cx="10929936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965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2965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195459-98D5-70AE-F6C8-404ED17C14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D0B98D6-1BB9-0645-823F-F8023687E2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7644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644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997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8997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69EF7-72B2-FCFD-0ECC-7F4C17CDDA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CA2232A-06BA-E2D6-78D5-5A9A152974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69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69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7699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9338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69338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6933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8945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8945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08945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F62390F-72F1-C922-7F9E-6DFC27873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96BE69-A4A1-6C64-0D9F-D82B586976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7644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644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997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8997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7700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1A63A-6B98-CD01-3B76-FD4065454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99F9315-A799-3F47-73BC-70CF5B80EF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00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61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61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102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102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1247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1247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C01C14-F2D7-2887-65D4-8963FDC75E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1CA365A-97AE-4DC1-8A19-9188A1EF32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175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175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175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53384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5634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634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15634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8E4791D-EB66-3EB0-E97B-4F315F0E9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796860-E80D-CE8C-2D2A-386FCE809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715475"/>
            <a:ext cx="1539899" cy="284830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6521" y="254643"/>
            <a:ext cx="1260401" cy="1260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42224-C073-C370-0170-EDFF722C3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91D11B-7EB1-78A8-25AB-EA33341C8B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0D353-A3AE-80DA-C3D7-A4CA5CCF32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08583E0-4981-FCE6-CC7F-B562C4EAB0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6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366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3068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068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77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177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4154" y="0"/>
            <a:ext cx="602208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55323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8414CD-ADEE-2A1C-3732-775C2F8A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28BCD1-980E-222A-56FB-AF81B1AAA1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13427F-499E-7243-A0B2-2CF497977B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00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4E8965-1EA8-8005-A909-76465BA4C0FB}"/>
              </a:ext>
            </a:extLst>
          </p:cNvPr>
          <p:cNvSpPr/>
          <p:nvPr userDrawn="1"/>
        </p:nvSpPr>
        <p:spPr bwMode="auto">
          <a:xfrm>
            <a:off x="9696450" y="0"/>
            <a:ext cx="24955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50EB9-DDCB-6B82-90E6-D93EE59FCA97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2BDD8D8-D17E-BFC0-ED6D-6E1D4A30B395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1A5DA-E4C1-1856-5847-AE348659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AF691A2C-885A-0EB3-797C-EF58AD425A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F79CFF-40BD-429D-B35C-552695FE8C5D}"/>
              </a:ext>
            </a:extLst>
          </p:cNvPr>
          <p:cNvSpPr/>
          <p:nvPr userDrawn="1"/>
        </p:nvSpPr>
        <p:spPr bwMode="auto">
          <a:xfrm>
            <a:off x="7832725" y="0"/>
            <a:ext cx="43592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A98B3-DB51-25C7-9270-7820F6EA398D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D2C4444-E6DF-4B99-1941-139B63DFBEBB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D51657-4E0D-F30E-9697-A8C29A98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D1B3AA5-C2D7-58A8-7EBE-6629FEA85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lvl="0"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accent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accent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F59B46-0DE3-E568-233F-75A607AE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7396B7B-5CA0-2575-EECE-9254812E7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9977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_Study_1/2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1AB88-4EAB-7302-D460-368C8A95B88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3BB7D0E-0360-1177-1B37-D40F98E8945C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6764-F53B-099D-08F4-9559CEC1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281F56-5810-8527-EA21-EF9D06E82D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7096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FF4445-7E43-4943-6564-663F57E4686B}"/>
              </a:ext>
            </a:extLst>
          </p:cNvPr>
          <p:cNvSpPr/>
          <p:nvPr userDrawn="1"/>
        </p:nvSpPr>
        <p:spPr bwMode="auto">
          <a:xfrm>
            <a:off x="0" y="0"/>
            <a:ext cx="61055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BCB5CB-662F-D77E-B95C-6FAEB9F5B9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B9A991D-1B79-B376-3D76-EEC73A5E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36083D7-1357-B3A0-B2CA-C5879573A1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8999" y="0"/>
            <a:ext cx="8763001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15EAA-C348-C006-D714-D17F88664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B6FBC1-BEC1-A0F4-57EF-55F4857AB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4D7C070-9D88-55A0-43C0-D19D134325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44122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81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9404C-9543-05AC-0FE7-5F45141B8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EE2443F-202F-9996-08A0-68D8B34EB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A952B7-2C29-CE80-75CE-F2ED96B638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8386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52926" y="0"/>
            <a:ext cx="78390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52925" y="0"/>
            <a:ext cx="7839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445D59-5D09-D8C1-2EC1-A52718159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7EF2F3C-6015-6E2B-6FDD-5205793AA2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543318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FD094-0794-063E-2B57-722EE39684F1}"/>
              </a:ext>
            </a:extLst>
          </p:cNvPr>
          <p:cNvSpPr/>
          <p:nvPr userDrawn="1"/>
        </p:nvSpPr>
        <p:spPr bwMode="auto">
          <a:xfrm>
            <a:off x="0" y="0"/>
            <a:ext cx="71437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633583-352F-F956-B6C1-9C86A76DE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CB865C5-5C2A-A194-F7E1-984E0B642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86B38F-89DD-F114-5F16-98FE8F50CA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D2A7FA-64FE-D868-11A0-F061891C2469}"/>
              </a:ext>
            </a:extLst>
          </p:cNvPr>
          <p:cNvSpPr/>
          <p:nvPr userDrawn="1"/>
        </p:nvSpPr>
        <p:spPr bwMode="auto">
          <a:xfrm>
            <a:off x="0" y="0"/>
            <a:ext cx="2489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F94430-52EF-289A-6B5B-96C63479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641" y="1600200"/>
            <a:ext cx="4797425" cy="338554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4641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400"/>
              </a:lnSpc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27BDED-D894-E63E-2F9E-832F391AA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 cstate="email">
            <a:alphaModFix amt="97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E287B6-2821-6380-6538-D34B54990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1091792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1126A01-3EE7-5F33-DA74-B4FF2B18E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1091792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 dirty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074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074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074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074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074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074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39074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1674905" y="5035401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5434AD-5AC2-9852-2EE5-0B7825009419}"/>
              </a:ext>
            </a:extLst>
          </p:cNvPr>
          <p:cNvSpPr txBox="1"/>
          <p:nvPr userDrawn="1"/>
        </p:nvSpPr>
        <p:spPr>
          <a:xfrm>
            <a:off x="-914400" y="2743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80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B80E9-585F-C9B1-8576-376264F29854}"/>
              </a:ext>
            </a:extLst>
          </p:cNvPr>
          <p:cNvPicPr>
            <a:picLocks noChangeAspect="1"/>
          </p:cNvPicPr>
          <p:nvPr userDrawn="1"/>
        </p:nvPicPr>
        <p:blipFill>
          <a:blip r:embed="rId7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E024EE-FD6A-B6AB-A3B4-33DB1D9D4C9F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05241D2-DD60-6811-5E6D-C8C5BC3FBCBF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FAF5EB5-8EED-D1BB-C0DC-9C6119D2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80646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70F6-1A75-436F-5B3A-ECBBB5282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9" y="1726856"/>
            <a:ext cx="10929937" cy="44834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93" r:id="rId2"/>
    <p:sldLayoutId id="2147483800" r:id="rId3"/>
    <p:sldLayoutId id="2147483894" r:id="rId4"/>
    <p:sldLayoutId id="2147483895" r:id="rId5"/>
    <p:sldLayoutId id="2147483840" r:id="rId6"/>
    <p:sldLayoutId id="2147483733" r:id="rId7"/>
    <p:sldLayoutId id="2147483810" r:id="rId8"/>
    <p:sldLayoutId id="2147483796" r:id="rId9"/>
    <p:sldLayoutId id="2147483797" r:id="rId10"/>
    <p:sldLayoutId id="2147483892" r:id="rId11"/>
    <p:sldLayoutId id="2147483777" r:id="rId12"/>
    <p:sldLayoutId id="2147483884" r:id="rId13"/>
    <p:sldLayoutId id="2147483889" r:id="rId14"/>
    <p:sldLayoutId id="2147483890" r:id="rId15"/>
    <p:sldLayoutId id="2147483798" r:id="rId16"/>
    <p:sldLayoutId id="2147483803" r:id="rId17"/>
    <p:sldLayoutId id="2147483806" r:id="rId18"/>
    <p:sldLayoutId id="2147483812" r:id="rId19"/>
    <p:sldLayoutId id="2147483839" r:id="rId20"/>
    <p:sldLayoutId id="2147483838" r:id="rId21"/>
    <p:sldLayoutId id="2147483805" r:id="rId22"/>
    <p:sldLayoutId id="2147483813" r:id="rId23"/>
    <p:sldLayoutId id="2147483877" r:id="rId24"/>
    <p:sldLayoutId id="2147483878" r:id="rId25"/>
    <p:sldLayoutId id="2147483879" r:id="rId26"/>
    <p:sldLayoutId id="2147483880" r:id="rId27"/>
    <p:sldLayoutId id="2147483881" r:id="rId28"/>
    <p:sldLayoutId id="2147483882" r:id="rId29"/>
    <p:sldLayoutId id="2147483850" r:id="rId30"/>
    <p:sldLayoutId id="2147483861" r:id="rId31"/>
    <p:sldLayoutId id="2147483834" r:id="rId32"/>
    <p:sldLayoutId id="2147483849" r:id="rId33"/>
    <p:sldLayoutId id="2147483862" r:id="rId34"/>
    <p:sldLayoutId id="2147483833" r:id="rId35"/>
    <p:sldLayoutId id="2147483876" r:id="rId36"/>
    <p:sldLayoutId id="2147483826" r:id="rId37"/>
    <p:sldLayoutId id="2147483814" r:id="rId38"/>
    <p:sldLayoutId id="2147483824" r:id="rId39"/>
    <p:sldLayoutId id="2147483815" r:id="rId40"/>
    <p:sldLayoutId id="2147483825" r:id="rId41"/>
    <p:sldLayoutId id="2147483823" r:id="rId42"/>
    <p:sldLayoutId id="2147483829" r:id="rId43"/>
    <p:sldLayoutId id="2147483830" r:id="rId44"/>
    <p:sldLayoutId id="2147483863" r:id="rId45"/>
    <p:sldLayoutId id="2147483868" r:id="rId46"/>
    <p:sldLayoutId id="2147483872" r:id="rId47"/>
    <p:sldLayoutId id="2147483866" r:id="rId48"/>
    <p:sldLayoutId id="2147483869" r:id="rId49"/>
    <p:sldLayoutId id="2147483873" r:id="rId50"/>
    <p:sldLayoutId id="2147483867" r:id="rId51"/>
    <p:sldLayoutId id="2147483870" r:id="rId52"/>
    <p:sldLayoutId id="2147483874" r:id="rId53"/>
    <p:sldLayoutId id="2147483864" r:id="rId54"/>
    <p:sldLayoutId id="2147483875" r:id="rId55"/>
    <p:sldLayoutId id="2147483871" r:id="rId56"/>
    <p:sldLayoutId id="2147483885" r:id="rId57"/>
    <p:sldLayoutId id="2147483841" r:id="rId58"/>
    <p:sldLayoutId id="2147483842" r:id="rId59"/>
    <p:sldLayoutId id="2147483891" r:id="rId60"/>
    <p:sldLayoutId id="2147483844" r:id="rId61"/>
    <p:sldLayoutId id="2147483843" r:id="rId62"/>
    <p:sldLayoutId id="2147483887" r:id="rId63"/>
    <p:sldLayoutId id="2147483888" r:id="rId64"/>
    <p:sldLayoutId id="2147483886" r:id="rId65"/>
    <p:sldLayoutId id="2147483851" r:id="rId66"/>
    <p:sldLayoutId id="2147483848" r:id="rId67"/>
    <p:sldLayoutId id="2147483856" r:id="rId68"/>
    <p:sldLayoutId id="2147483860" r:id="rId69"/>
    <p:sldLayoutId id="2147483858" r:id="rId70"/>
    <p:sldLayoutId id="2147483859" r:id="rId71"/>
    <p:sldLayoutId id="2147483778" r:id="rId72"/>
    <p:sldLayoutId id="2147483896" r:id="rId7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tx1"/>
          </a:solidFill>
          <a:effectLst/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accent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lang="en-US" sz="14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Courier New" panose="02070309020205020404" pitchFamily="49" charset="0"/>
        <a:buChar char="o"/>
        <a:defRPr lang="en-US" sz="12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F26B43"/>
          </p15:clr>
        </p15:guide>
        <p15:guide id="3" pos="7280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12" orient="horz" pos="768" userDrawn="1">
          <p15:clr>
            <a:srgbClr val="F26B43"/>
          </p15:clr>
        </p15:guide>
        <p15:guide id="13" pos="830" userDrawn="1">
          <p15:clr>
            <a:srgbClr val="F26B43"/>
          </p15:clr>
        </p15:guide>
        <p15:guide id="14" pos="984" userDrawn="1">
          <p15:clr>
            <a:srgbClr val="F26B43"/>
          </p15:clr>
        </p15:guide>
        <p15:guide id="15" pos="1416" userDrawn="1">
          <p15:clr>
            <a:srgbClr val="F26B43"/>
          </p15:clr>
        </p15:guide>
        <p15:guide id="16" pos="1568" userDrawn="1">
          <p15:clr>
            <a:srgbClr val="F26B43"/>
          </p15:clr>
        </p15:guide>
        <p15:guide id="17" pos="2004" userDrawn="1">
          <p15:clr>
            <a:srgbClr val="F26B43"/>
          </p15:clr>
        </p15:guide>
        <p15:guide id="18" pos="2156" userDrawn="1">
          <p15:clr>
            <a:srgbClr val="F26B43"/>
          </p15:clr>
        </p15:guide>
        <p15:guide id="19" pos="2589" userDrawn="1">
          <p15:clr>
            <a:srgbClr val="F26B43"/>
          </p15:clr>
        </p15:guide>
        <p15:guide id="20" pos="2742" userDrawn="1">
          <p15:clr>
            <a:srgbClr val="F26B43"/>
          </p15:clr>
        </p15:guide>
        <p15:guide id="21" pos="3168" userDrawn="1">
          <p15:clr>
            <a:srgbClr val="F26B43"/>
          </p15:clr>
        </p15:guide>
        <p15:guide id="22" pos="3326" userDrawn="1">
          <p15:clr>
            <a:srgbClr val="F26B43"/>
          </p15:clr>
        </p15:guide>
        <p15:guide id="23" pos="3762" userDrawn="1">
          <p15:clr>
            <a:srgbClr val="F26B43"/>
          </p15:clr>
        </p15:guide>
        <p15:guide id="24" pos="3912" userDrawn="1">
          <p15:clr>
            <a:srgbClr val="F26B43"/>
          </p15:clr>
        </p15:guide>
        <p15:guide id="25" pos="4346" userDrawn="1">
          <p15:clr>
            <a:srgbClr val="F26B43"/>
          </p15:clr>
        </p15:guide>
        <p15:guide id="26" pos="4500" userDrawn="1">
          <p15:clr>
            <a:srgbClr val="F26B43"/>
          </p15:clr>
        </p15:guide>
        <p15:guide id="27" pos="4934" userDrawn="1">
          <p15:clr>
            <a:srgbClr val="F26B43"/>
          </p15:clr>
        </p15:guide>
        <p15:guide id="28" pos="5086" userDrawn="1">
          <p15:clr>
            <a:srgbClr val="F26B43"/>
          </p15:clr>
        </p15:guide>
        <p15:guide id="29" pos="5520" userDrawn="1">
          <p15:clr>
            <a:srgbClr val="F26B43"/>
          </p15:clr>
        </p15:guide>
        <p15:guide id="30" pos="5674" userDrawn="1">
          <p15:clr>
            <a:srgbClr val="F26B43"/>
          </p15:clr>
        </p15:guide>
        <p15:guide id="31" pos="6108" userDrawn="1">
          <p15:clr>
            <a:srgbClr val="F26B43"/>
          </p15:clr>
        </p15:guide>
        <p15:guide id="32" pos="6262" userDrawn="1">
          <p15:clr>
            <a:srgbClr val="F26B43"/>
          </p15:clr>
        </p15:guide>
        <p15:guide id="33" pos="6692" userDrawn="1">
          <p15:clr>
            <a:srgbClr val="F26B43"/>
          </p15:clr>
        </p15:guide>
        <p15:guide id="34" pos="6846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1CFFA43-0DA9-4711-990C-986155345D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700" y="4670399"/>
            <a:ext cx="7068944" cy="612925"/>
          </a:xfrm>
        </p:spPr>
        <p:txBody>
          <a:bodyPr/>
          <a:lstStyle/>
          <a:p>
            <a:r>
              <a:rPr lang="en-US" sz="1400" dirty="0"/>
              <a:t>[One-line pitch: what it does, for whom, in under 20 words]</a:t>
            </a:r>
          </a:p>
          <a:p>
            <a:r>
              <a:rPr lang="en-US" sz="1400" dirty="0">
                <a:solidFill>
                  <a:srgbClr val="7A7A7A"/>
                </a:solidFill>
              </a:rPr>
              <a:t>[Line of business]  ·  [Business function]  ·  [Team name]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7FC0CD-D28C-B94E-38C8-21950A2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[MONTH YYYY]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1E964-B058-A798-23EB-88D68848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FBFF413-9C9D-6973-5C8C-00B6CB14D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>
                <a:solidFill>
                  <a:schemeClr val="tx1"/>
                </a:solidFill>
              </a:rPr>
              <a:t>AI Hackathon Proposal</a:t>
            </a:r>
            <a:br/>
            <a:r>
              <a:rPr sz="4000">
                <a:solidFill>
                  <a:srgbClr val="0047FF"/>
                </a:solidFill>
              </a:rPr>
              <a:t>[Accelerator name]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3F984F-0EC7-59F3-7A19-A00D2F8262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8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01  |  AI Hackathon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1388424"/>
            <a:ext cx="5403738" cy="150107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654" y="1513514"/>
            <a:ext cx="5112300" cy="1275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60606"/>
                </a:solidFill>
                <a:latin typeface="Calibri"/>
              </a:rPr>
              <a:t>Problem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[The business pain in one sentence, with a number]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106" y="1388424"/>
            <a:ext cx="5403738" cy="150107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1825" y="1513514"/>
            <a:ext cx="5112300" cy="1275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60606"/>
                </a:solidFill>
                <a:latin typeface="Calibri"/>
              </a:rPr>
              <a:t>Solution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[What the accelerator does + core AI technique]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3077138"/>
            <a:ext cx="5403738" cy="150107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6654" y="3202228"/>
            <a:ext cx="5112300" cy="1275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60606"/>
                </a:solidFill>
                <a:latin typeface="Calibri"/>
              </a:rPr>
              <a:t>Primary user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[e.g., Commercial underwriter]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6106" y="3077138"/>
            <a:ext cx="5403738" cy="150107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1825" y="3202228"/>
            <a:ext cx="5112300" cy="1275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60606"/>
                </a:solidFill>
                <a:latin typeface="Calibri"/>
              </a:rPr>
              <a:t>Headline value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[e.g., X% less review time, Y% fewer underpriced renewals]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4890942"/>
            <a:ext cx="10928908" cy="1063264"/>
          </a:xfrm>
          <a:prstGeom prst="roundRect">
            <a:avLst>
              <a:gd name="adj" fmla="val 6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800" y="4890942"/>
            <a:ext cx="10443179" cy="1063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we will demo:  </a:t>
            </a:r>
            <a:r>
              <a:rPr sz="1700" b="0" i="1">
                <a:solidFill>
                  <a:srgbClr val="FFFFFF"/>
                </a:solidFill>
                <a:latin typeface="Calibri"/>
              </a:rPr>
              <a:t>[Working prototype / clickable mock-up / API + UI demo]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02  |  AI Hackathon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1325880"/>
            <a:ext cx="5100157" cy="150107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654" y="1450969"/>
            <a:ext cx="4808719" cy="1275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Current state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[How it works today: who, which systems and documents]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3014593"/>
            <a:ext cx="5100157" cy="168871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6654" y="3139683"/>
            <a:ext cx="4808719" cy="1463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[Pain point 1]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[Pain point 2]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[Pain point 3]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4674" y="1325880"/>
          <a:ext cx="5525170" cy="18763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2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Why it happens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[Root cause 1]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[Explanation]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[Root cause 2]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[Explanation]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[Root cause 3]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[Explanation]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[Root cause 4]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[Explanation]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" y="4953487"/>
            <a:ext cx="10928908" cy="1000719"/>
          </a:xfrm>
          <a:prstGeom prst="roundRect">
            <a:avLst>
              <a:gd name="adj" fmla="val 6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800" y="4953487"/>
            <a:ext cx="10443179" cy="1000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Core insight:  </a:t>
            </a:r>
            <a:r>
              <a:rPr sz="1700" b="0" i="1">
                <a:solidFill>
                  <a:srgbClr val="FFFFFF"/>
                </a:solidFill>
                <a:latin typeface="Calibri"/>
              </a:rPr>
              <a:t>[The one idea that makes this solvable with AI, e.g., Premium = Rate × Exposure]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and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03  |  AI Hackathon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00790"/>
            <a:ext cx="10928908" cy="500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7A7A7A"/>
                </a:solidFill>
                <a:latin typeface="Calibri"/>
              </a:rPr>
              <a:t>[2–3 sentences: what the accelerator does, its inputs and its output to the user]</a:t>
            </a:r>
          </a:p>
        </p:txBody>
      </p:sp>
      <p:sp>
        <p:nvSpPr>
          <p:cNvPr id="5" name="Oval 4"/>
          <p:cNvSpPr/>
          <p:nvPr/>
        </p:nvSpPr>
        <p:spPr>
          <a:xfrm>
            <a:off x="630936" y="1988856"/>
            <a:ext cx="546445" cy="546445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1988856"/>
            <a:ext cx="546445" cy="546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9529" y="1888784"/>
            <a:ext cx="4250131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Capability 1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[What it does]</a:t>
            </a:r>
          </a:p>
        </p:txBody>
      </p:sp>
      <p:sp>
        <p:nvSpPr>
          <p:cNvPr id="8" name="Oval 7"/>
          <p:cNvSpPr/>
          <p:nvPr/>
        </p:nvSpPr>
        <p:spPr>
          <a:xfrm>
            <a:off x="630936" y="2989575"/>
            <a:ext cx="546445" cy="546445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2989575"/>
            <a:ext cx="546445" cy="546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9529" y="2889504"/>
            <a:ext cx="4250131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Capability 2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[What it does]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" y="3990295"/>
            <a:ext cx="546445" cy="546445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" y="3990295"/>
            <a:ext cx="546445" cy="546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9529" y="3890223"/>
            <a:ext cx="4250131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Capability 3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[What it does]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" y="4991014"/>
            <a:ext cx="546445" cy="546445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4991014"/>
            <a:ext cx="546445" cy="546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9529" y="4890942"/>
            <a:ext cx="4250131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Capability 4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[What it does]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4674" y="1888784"/>
            <a:ext cx="2671511" cy="2814523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0393" y="2013874"/>
            <a:ext cx="2380073" cy="2589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In scope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[LOB, data sources, features you will build]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8333" y="1888784"/>
            <a:ext cx="2671511" cy="281452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34052" y="2013874"/>
            <a:ext cx="2380073" cy="2589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Out of scope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[External data, integrations, other lines]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4674" y="4890942"/>
            <a:ext cx="5525170" cy="1063264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0393" y="5016032"/>
            <a:ext cx="5233732" cy="838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Assumptions &amp; dependencies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[Synthetic data, model access, SME time]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04  |  AI Hackathon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1388424"/>
            <a:ext cx="1882200" cy="293961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654" y="1513514"/>
            <a:ext cx="1590763" cy="2714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60606"/>
                </a:solidFill>
                <a:latin typeface="Calibri"/>
              </a:rPr>
              <a:t>Inputs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[Source 1]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[Source 2]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[Source 3]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49566" y="2664342"/>
            <a:ext cx="267151" cy="375269"/>
          </a:xfrm>
          <a:prstGeom prst="rightArrow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77433" y="1388424"/>
            <a:ext cx="1821484" cy="2939613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23152" y="1513514"/>
            <a:ext cx="1530047" cy="2714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1. Ingestion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[Purpose]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[Components]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[AI / rules]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35348" y="2664342"/>
            <a:ext cx="267151" cy="375269"/>
          </a:xfrm>
          <a:prstGeom prst="rightArrow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63215" y="1388424"/>
            <a:ext cx="1821484" cy="2939613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8934" y="1513514"/>
            <a:ext cx="1530047" cy="2714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2. Processing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[Purpose]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[Components]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[AI / rules]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21130" y="2664342"/>
            <a:ext cx="267151" cy="375269"/>
          </a:xfrm>
          <a:prstGeom prst="rightArrow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48997" y="1388424"/>
            <a:ext cx="1821484" cy="2939613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94716" y="1513514"/>
            <a:ext cx="1530047" cy="2714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3. Scoring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[Purpose]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[Components]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[AI / rules]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06911" y="2664342"/>
            <a:ext cx="267151" cy="375269"/>
          </a:xfrm>
          <a:prstGeom prst="rightArrow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34779" y="1388424"/>
            <a:ext cx="1821484" cy="2939613"/>
          </a:xfrm>
          <a:prstGeom prst="roundRect">
            <a:avLst>
              <a:gd name="adj" fmla="val 6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80497" y="1513514"/>
            <a:ext cx="1530047" cy="2714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4. Output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CCDAFF"/>
                </a:solidFill>
                <a:latin typeface="Calibri"/>
              </a:rPr>
              <a:t>[Purpose]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CCDAF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CCDAFF"/>
                </a:solidFill>
                <a:latin typeface="Calibri"/>
              </a:rPr>
              <a:t>[Components]</a:t>
            </a:r>
          </a:p>
          <a:p>
            <a:pPr>
              <a:spcAft>
                <a:spcPts val="400"/>
              </a:spcAft>
            </a:pPr>
            <a:endParaRPr sz="1200" b="0" i="1">
              <a:solidFill>
                <a:srgbClr val="CCDAF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CCDAFF"/>
                </a:solidFill>
                <a:latin typeface="Calibri"/>
              </a:rPr>
              <a:t>[AI / rules]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7433" y="4540690"/>
            <a:ext cx="8378830" cy="62544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59582" y="4540690"/>
            <a:ext cx="8135965" cy="6254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60606"/>
                </a:solidFill>
                <a:latin typeface="Calibri"/>
              </a:rPr>
              <a:t>Parallel checks:  </a:t>
            </a:r>
            <a:r>
              <a:rPr sz="1300" b="0" i="1">
                <a:solidFill>
                  <a:srgbClr val="7A7A7A"/>
                </a:solidFill>
                <a:latin typeface="Calibri"/>
              </a:rPr>
              <a:t>[e.g., rate-level check against current rate tables]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5453847"/>
            <a:ext cx="10928908" cy="702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60606"/>
                </a:solidFill>
                <a:latin typeface="Calibri"/>
              </a:rPr>
              <a:t>Integrations: </a:t>
            </a:r>
            <a:r>
              <a:rPr sz="1300" b="0" i="1" dirty="0">
                <a:solidFill>
                  <a:srgbClr val="7A7A7A"/>
                </a:solidFill>
                <a:latin typeface="Calibri"/>
              </a:rPr>
              <a:t>[PAS, UW workbench, DMS, rating – mocked or real]     </a:t>
            </a:r>
            <a:r>
              <a:rPr sz="1300" b="1" i="0" dirty="0">
                <a:solidFill>
                  <a:srgbClr val="060606"/>
                </a:solidFill>
                <a:latin typeface="Calibri"/>
              </a:rPr>
              <a:t>Hosting: </a:t>
            </a:r>
            <a:r>
              <a:rPr sz="1300" b="0" i="1" dirty="0">
                <a:solidFill>
                  <a:srgbClr val="7A7A7A"/>
                </a:solidFill>
                <a:latin typeface="Calibri"/>
              </a:rPr>
              <a:t>[Cloud / services]</a:t>
            </a:r>
            <a:endParaRPr lang="en-IN" sz="1300" b="0" i="1" dirty="0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IN" sz="1300" i="1" dirty="0">
              <a:solidFill>
                <a:srgbClr val="7A7A7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IN" sz="1300" b="1" dirty="0">
                <a:solidFill>
                  <a:srgbClr val="060606"/>
                </a:solidFill>
                <a:latin typeface="Calibri"/>
              </a:rPr>
              <a:t>Tech Stack and Models</a:t>
            </a:r>
            <a:endParaRPr sz="1300" b="1" dirty="0">
              <a:solidFill>
                <a:srgbClr val="06060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05  |  AI Hackathon Proposal</a:t>
            </a:r>
          </a:p>
        </p:txBody>
      </p:sp>
      <p:sp>
        <p:nvSpPr>
          <p:cNvPr id="4" name="Chevron 3"/>
          <p:cNvSpPr/>
          <p:nvPr/>
        </p:nvSpPr>
        <p:spPr>
          <a:xfrm>
            <a:off x="630936" y="1388424"/>
            <a:ext cx="1821484" cy="813084"/>
          </a:xfrm>
          <a:prstGeom prst="chevron">
            <a:avLst/>
          </a:prstGeom>
          <a:solidFill>
            <a:srgbClr val="0047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5232" y="1388424"/>
            <a:ext cx="1214323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1. Receive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365" y="2326599"/>
            <a:ext cx="1748625" cy="93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60606"/>
                </a:solidFill>
                <a:latin typeface="Calibri"/>
              </a:rPr>
              <a:t>[System]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[What happens / output]</a:t>
            </a:r>
          </a:p>
        </p:txBody>
      </p:sp>
      <p:sp>
        <p:nvSpPr>
          <p:cNvPr id="7" name="Chevron 6"/>
          <p:cNvSpPr/>
          <p:nvPr/>
        </p:nvSpPr>
        <p:spPr>
          <a:xfrm>
            <a:off x="2476707" y="1388424"/>
            <a:ext cx="1821484" cy="813084"/>
          </a:xfrm>
          <a:prstGeom prst="chevron">
            <a:avLst/>
          </a:prstGeom>
          <a:solidFill>
            <a:srgbClr val="0B2E9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41004" y="1388424"/>
            <a:ext cx="1214323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2.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3136" y="2326599"/>
            <a:ext cx="1748625" cy="93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60606"/>
                </a:solidFill>
                <a:latin typeface="Calibri"/>
              </a:rPr>
              <a:t>[AI]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[What happens / output]</a:t>
            </a:r>
          </a:p>
        </p:txBody>
      </p:sp>
      <p:sp>
        <p:nvSpPr>
          <p:cNvPr id="10" name="Chevron 9"/>
          <p:cNvSpPr/>
          <p:nvPr/>
        </p:nvSpPr>
        <p:spPr>
          <a:xfrm>
            <a:off x="4322478" y="1388424"/>
            <a:ext cx="1821484" cy="813084"/>
          </a:xfrm>
          <a:prstGeom prst="chevron">
            <a:avLst/>
          </a:prstGeom>
          <a:solidFill>
            <a:srgbClr val="0047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6775" y="1388424"/>
            <a:ext cx="1214323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3.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908" y="2326599"/>
            <a:ext cx="1748625" cy="93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60606"/>
                </a:solidFill>
                <a:latin typeface="Calibri"/>
              </a:rPr>
              <a:t>[Rules + AI]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[What happens / output]</a:t>
            </a:r>
          </a:p>
        </p:txBody>
      </p:sp>
      <p:sp>
        <p:nvSpPr>
          <p:cNvPr id="13" name="Chevron 12"/>
          <p:cNvSpPr/>
          <p:nvPr/>
        </p:nvSpPr>
        <p:spPr>
          <a:xfrm>
            <a:off x="6168249" y="1388424"/>
            <a:ext cx="1821484" cy="813084"/>
          </a:xfrm>
          <a:prstGeom prst="chevron">
            <a:avLst/>
          </a:prstGeom>
          <a:solidFill>
            <a:srgbClr val="0B2E9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2546" y="1388424"/>
            <a:ext cx="1214323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4.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4679" y="2326599"/>
            <a:ext cx="1748625" cy="93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60606"/>
                </a:solidFill>
                <a:latin typeface="Calibri"/>
              </a:rPr>
              <a:t>[Rules / ML]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[What happens / output]</a:t>
            </a:r>
          </a:p>
        </p:txBody>
      </p:sp>
      <p:sp>
        <p:nvSpPr>
          <p:cNvPr id="16" name="Chevron 15"/>
          <p:cNvSpPr/>
          <p:nvPr/>
        </p:nvSpPr>
        <p:spPr>
          <a:xfrm>
            <a:off x="8014021" y="1388424"/>
            <a:ext cx="1821484" cy="813084"/>
          </a:xfrm>
          <a:prstGeom prst="chevron">
            <a:avLst/>
          </a:prstGeom>
          <a:solidFill>
            <a:srgbClr val="0047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8318" y="1388424"/>
            <a:ext cx="1214323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5. Summarize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0450" y="2326599"/>
            <a:ext cx="1748625" cy="93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60606"/>
                </a:solidFill>
                <a:latin typeface="Calibri"/>
              </a:rPr>
              <a:t>[AI]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[What happens / output]</a:t>
            </a:r>
          </a:p>
        </p:txBody>
      </p:sp>
      <p:sp>
        <p:nvSpPr>
          <p:cNvPr id="19" name="Chevron 18"/>
          <p:cNvSpPr/>
          <p:nvPr/>
        </p:nvSpPr>
        <p:spPr>
          <a:xfrm>
            <a:off x="9859792" y="1388424"/>
            <a:ext cx="1821484" cy="813084"/>
          </a:xfrm>
          <a:prstGeom prst="chevron">
            <a:avLst/>
          </a:prstGeom>
          <a:solidFill>
            <a:srgbClr val="06060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24089" y="1388424"/>
            <a:ext cx="1214323" cy="813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6.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6222" y="2326599"/>
            <a:ext cx="1748625" cy="93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60606"/>
                </a:solidFill>
                <a:latin typeface="Calibri"/>
              </a:rPr>
              <a:t>[Human]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[What happens / output]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" y="3702588"/>
            <a:ext cx="2610794" cy="225161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6654" y="3827678"/>
            <a:ext cx="2319357" cy="202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Prompt / agent design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[Single call, chained prompts or agents]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9592" y="3702588"/>
            <a:ext cx="2610794" cy="225161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45311" y="3827678"/>
            <a:ext cx="2319357" cy="202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Grounding &amp; traceability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[How outputs link to sources]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8249" y="3702588"/>
            <a:ext cx="2610794" cy="225161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3968" y="3827678"/>
            <a:ext cx="2319357" cy="202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Human-in-the-loop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[Where the user approves or overrides]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6906" y="3702588"/>
            <a:ext cx="2610794" cy="225161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82625" y="3827678"/>
            <a:ext cx="2319357" cy="202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Fallbacks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[Low confidence, missing data, failure]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06  |  AI Hackathon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1325880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654" y="1450969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060606"/>
                </a:solidFill>
                <a:latin typeface="Calibri"/>
              </a:rPr>
              <a:t>LLM / model</a:t>
            </a:r>
          </a:p>
          <a:p>
            <a:pPr>
              <a:spcAft>
                <a:spcPts val="400"/>
              </a:spcAft>
            </a:pPr>
            <a:r>
              <a:rPr sz="1200" b="0" i="1" dirty="0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 dirty="0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0988" y="1325880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76707" y="1450969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060606"/>
                </a:solidFill>
                <a:latin typeface="Calibri"/>
              </a:rPr>
              <a:t>Orchestration</a:t>
            </a:r>
          </a:p>
          <a:p>
            <a:pPr>
              <a:spcAft>
                <a:spcPts val="400"/>
              </a:spcAft>
            </a:pPr>
            <a:r>
              <a:rPr sz="1200" b="0" i="1" dirty="0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 dirty="0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1040" y="1325880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76759" y="1450969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Rules engine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31093" y="1325880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6812" y="1450969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Extraction / OCR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2764414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6654" y="2889504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Backend / API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0988" y="2764414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76707" y="2889504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Front end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1040" y="2764414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76759" y="2889504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Data store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31093" y="2764414"/>
            <a:ext cx="1578620" cy="127591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6812" y="2889504"/>
            <a:ext cx="1287182" cy="1050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Hosting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[Tech]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7A7A7A"/>
                </a:solidFill>
                <a:latin typeface="Calibri"/>
              </a:rPr>
              <a:t>[Why]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52578" y="1325880"/>
          <a:ext cx="4007266" cy="18763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7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69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Real / synthetic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60606"/>
                          </a:solidFill>
                          <a:latin typeface="Calibri"/>
                        </a:rPr>
                        <a:t>[Prior policy file]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7A7A7A"/>
                          </a:solidFill>
                          <a:latin typeface="Calibri"/>
                        </a:rPr>
                        <a:t>[Synthetic]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60606"/>
                          </a:solidFill>
                          <a:latin typeface="Calibri"/>
                        </a:rPr>
                        <a:t>[Renewal submission]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7A7A7A"/>
                          </a:solidFill>
                          <a:latin typeface="Calibri"/>
                        </a:rPr>
                        <a:t>[Synthetic]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60606"/>
                          </a:solidFill>
                          <a:latin typeface="Calibri"/>
                        </a:rPr>
                        <a:t>[Broker notes]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7A7A7A"/>
                          </a:solidFill>
                          <a:latin typeface="Calibri"/>
                        </a:rPr>
                        <a:t>[Synthetic]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60606"/>
                          </a:solidFill>
                          <a:latin typeface="Calibri"/>
                        </a:rPr>
                        <a:t>[Reference tables]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7A7A7A"/>
                          </a:solidFill>
                          <a:latin typeface="Calibri"/>
                        </a:rPr>
                        <a:t>[Mocked]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30936" y="4390583"/>
            <a:ext cx="10928908" cy="1563624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800" y="4453128"/>
            <a:ext cx="10443179" cy="14385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Approach: </a:t>
            </a:r>
            <a:r>
              <a:rPr sz="1500" b="0" i="1">
                <a:solidFill>
                  <a:srgbClr val="7A7A7A"/>
                </a:solidFill>
                <a:latin typeface="Calibri"/>
              </a:rPr>
              <a:t>[How you will build it in one or two lines]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Evaluation: </a:t>
            </a:r>
            <a:r>
              <a:rPr sz="1500" b="0" i="1">
                <a:solidFill>
                  <a:srgbClr val="7A7A7A"/>
                </a:solidFill>
                <a:latin typeface="Calibri"/>
              </a:rPr>
              <a:t>[e.g., precision / recall of flags vs a labeled test set; hallucination checks]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Mock-up and user journey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07  |  AI Hackathon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00790"/>
            <a:ext cx="10928908" cy="500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Persona &amp; journey: </a:t>
            </a:r>
            <a:r>
              <a:rPr sz="1500" b="0" i="1">
                <a:solidFill>
                  <a:srgbClr val="7A7A7A"/>
                </a:solidFill>
                <a:latin typeface="Calibri"/>
              </a:rPr>
              <a:t>[Role] → [trigger] → [steps in tool] → [decision] → [hand-off to core system]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888784"/>
            <a:ext cx="3521537" cy="293961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1888784"/>
            <a:ext cx="3521537" cy="2939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7A7A7A"/>
                </a:solidFill>
                <a:latin typeface="Calibri"/>
              </a:rPr>
              <a:t>[Paste mock-up]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4953487"/>
            <a:ext cx="3521537" cy="1000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Screen 1: [name]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[Purpose · AI content shown]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621" y="1888784"/>
            <a:ext cx="3521537" cy="293961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34621" y="1888784"/>
            <a:ext cx="3521537" cy="2939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7A7A7A"/>
                </a:solidFill>
                <a:latin typeface="Calibri"/>
              </a:rPr>
              <a:t>[Paste mock-up]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621" y="4953487"/>
            <a:ext cx="3521537" cy="1000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Screen 2: [name]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[Purpose · AI content shown]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307" y="1888784"/>
            <a:ext cx="3521537" cy="293961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8307" y="1888784"/>
            <a:ext cx="3521537" cy="2939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7A7A7A"/>
                </a:solidFill>
                <a:latin typeface="Calibri"/>
              </a:rPr>
              <a:t>[Paste mock-up]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8307" y="4953487"/>
            <a:ext cx="3521537" cy="1000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60606"/>
                </a:solidFill>
                <a:latin typeface="Calibri"/>
              </a:rPr>
              <a:t>Screen 3: [name]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[Purpose · AI content shown]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08  |  AI Hackathon Proposal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" y="1325880"/>
          <a:ext cx="7043073" cy="22516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4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Value lever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Premium adequacy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[KPI]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UW productivity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[KPI]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Loss ratio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[KPI]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Submission quality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[KPI]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Broker experience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[KPI]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77591" y="1325880"/>
            <a:ext cx="3582253" cy="2376708"/>
          </a:xfrm>
          <a:prstGeom prst="roundRect">
            <a:avLst>
              <a:gd name="adj" fmla="val 6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1388424"/>
            <a:ext cx="3157240" cy="22516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[$X M]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[Illustrative annual value – formula in notes]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7591" y="3890223"/>
            <a:ext cx="3582253" cy="2063983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3310" y="4015313"/>
            <a:ext cx="3290815" cy="1838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Market fit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[Target carriers / MGAs and why now]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[Qualitative benefits]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212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Arial" pitchFamily="34" charset="0"/>
                <a:ea typeface="Arial" pitchFamily="34" charset="-122"/>
                <a:cs typeface="Arial" pitchFamily="34" charset="-120"/>
              </a:rPr>
              <a:t>09 · AI Approach &amp; Guardrails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Approach &amp; Guardrails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175173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41248" y="135805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 &amp; session management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998133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context is passed, kept accurate, and handled when the limit is reached]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36544" y="1175173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637712" y="135805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Hand-off &amp; human-in-the-loop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1998133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[When AI hands off to a human, what context goes with it, and who approves]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175173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34176" y="135805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responsible AI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34176" y="1998133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[Input/output checks, PII handling, hallucination control, bias and explainability]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29471" y="1175173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230639" y="135805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Token optimization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230639" y="1998133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prompts, model choice, and caching keep cost and latency low]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742265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41248" y="378121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observability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048758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[Retry and fallback approach, and what is logged and traced]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36544" y="3742265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lt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3553046" y="4078393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 or what evaluates output quality, and how the solution was tested]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3008" y="3742265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34176" y="378121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34176" y="4048758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the harness around the model — prompts, tools, checks, feedback loops — is built and version-controlled]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29471" y="3742265"/>
            <a:ext cx="2522144" cy="2148840"/>
          </a:xfrm>
          <a:prstGeom prst="roundRect">
            <a:avLst>
              <a:gd name="adj" fmla="val 3404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230639" y="3781213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Integration possibility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230639" y="4048758"/>
            <a:ext cx="2119808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3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[Which systems this could connect to next, and what that integration would need]</a:t>
            </a:r>
            <a:endParaRPr lang="en-US" sz="95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79E5F5E7-7873-B68B-4A5B-129C829C97E9}"/>
              </a:ext>
            </a:extLst>
          </p:cNvPr>
          <p:cNvSpPr txBox="1"/>
          <p:nvPr/>
        </p:nvSpPr>
        <p:spPr>
          <a:xfrm>
            <a:off x="3553046" y="3840818"/>
            <a:ext cx="211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Evaluator and Testing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Path to scale , USP and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dirty="0"/>
              <a:t>10  |  AI Hackathon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1325880"/>
            <a:ext cx="2853659" cy="152609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654" y="1450969"/>
            <a:ext cx="2562221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IN" sz="1500" b="1" i="0" dirty="0">
                <a:solidFill>
                  <a:srgbClr val="060606"/>
                </a:solidFill>
                <a:latin typeface="Calibri"/>
              </a:rPr>
              <a:t>USP</a:t>
            </a:r>
            <a:endParaRPr sz="1500" b="1" i="0" dirty="0">
              <a:solidFill>
                <a:srgbClr val="060606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7A7A7A"/>
                </a:solidFill>
                <a:latin typeface="Calibri"/>
              </a:rPr>
              <a:t>[</a:t>
            </a:r>
            <a:r>
              <a:rPr lang="en-US" sz="1300" b="0" i="1" dirty="0">
                <a:solidFill>
                  <a:srgbClr val="7A7A7A"/>
                </a:solidFill>
                <a:latin typeface="Calibri"/>
              </a:rPr>
              <a:t>USP 1 — what sets your approach apart]</a:t>
            </a:r>
          </a:p>
          <a:p>
            <a:pPr>
              <a:spcAft>
                <a:spcPts val="400"/>
              </a:spcAft>
            </a:pPr>
            <a:r>
              <a:rPr lang="en-US" sz="1300" b="0" i="1" dirty="0">
                <a:solidFill>
                  <a:srgbClr val="7A7A7A"/>
                </a:solidFill>
                <a:latin typeface="Calibri"/>
              </a:rPr>
              <a:t>[USP 2 — a technical choice that adds real value]</a:t>
            </a:r>
          </a:p>
          <a:p>
            <a:pPr>
              <a:spcAft>
                <a:spcPts val="400"/>
              </a:spcAft>
            </a:pPr>
            <a:endParaRPr sz="1300" b="0" i="1" dirty="0">
              <a:solidFill>
                <a:srgbClr val="7A7A7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06027" y="1325880"/>
            <a:ext cx="2853659" cy="152609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51746" y="1450969"/>
            <a:ext cx="2562221" cy="1300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IN" sz="1500" b="1" i="0" dirty="0">
                <a:solidFill>
                  <a:srgbClr val="060606"/>
                </a:solidFill>
                <a:latin typeface="Calibri"/>
              </a:rPr>
              <a:t>Other lines / use cases</a:t>
            </a:r>
            <a:endParaRPr sz="1500" b="1" i="0" dirty="0">
              <a:solidFill>
                <a:srgbClr val="060606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7A7A7A"/>
                </a:solidFill>
                <a:latin typeface="Calibri"/>
              </a:rPr>
              <a:t>[GL, Auto, WC; endorsements, audit]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3014593"/>
            <a:ext cx="2853659" cy="152609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6654" y="3139683"/>
            <a:ext cx="2562221" cy="1300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Platform fit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[Guidewire, Duck Creek, custom PAS]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6027" y="3014593"/>
            <a:ext cx="2853659" cy="1526097"/>
          </a:xfrm>
          <a:prstGeom prst="roundRect">
            <a:avLst>
              <a:gd name="adj" fmla="val 6000"/>
            </a:avLst>
          </a:prstGeom>
          <a:solidFill>
            <a:srgbClr val="EB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51746" y="3139683"/>
            <a:ext cx="2562221" cy="1300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60606"/>
                </a:solidFill>
                <a:latin typeface="Calibri"/>
              </a:rPr>
              <a:t>Roadmap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7A7A7A"/>
                </a:solidFill>
                <a:latin typeface="Calibri"/>
              </a:rPr>
              <a:t>[Pilot → MVP → production]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3268" y="1325880"/>
          <a:ext cx="4796576" cy="18763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2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3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0606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[Name]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[Lead / domain SME]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[Name]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[AI / ML engineer]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[Name]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[Full-stack developer]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6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60606"/>
                          </a:solidFill>
                          <a:latin typeface="Calibri"/>
                        </a:rPr>
                        <a:t>[Name]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1">
                          <a:solidFill>
                            <a:srgbClr val="7A7A7A"/>
                          </a:solidFill>
                          <a:latin typeface="Calibri"/>
                        </a:rPr>
                        <a:t>[UX / BA / QA]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30936" y="4953487"/>
            <a:ext cx="10928908" cy="1000719"/>
          </a:xfrm>
          <a:prstGeom prst="roundRect">
            <a:avLst>
              <a:gd name="adj" fmla="val 6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800" y="4953487"/>
            <a:ext cx="10443179" cy="1000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Our asks:  </a:t>
            </a:r>
            <a:r>
              <a:rPr sz="1700" b="0" i="1">
                <a:solidFill>
                  <a:srgbClr val="FFFFFF"/>
                </a:solidFill>
                <a:latin typeface="Calibri"/>
              </a:rPr>
              <a:t>[Model access, cloud credits, sample data, SME time]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7C963-C45E-8DC3-066A-7BB283544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/>
              <a:t>For more information, contact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1E54A-3D4E-4CEB-8677-FDEEA0851C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[Lead name]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D2460-84DE-8FFB-A283-3FC73C6AA5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/>
              <a:t>[Title, practice]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5146A9-8D16-8589-E054-8910EE149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err="1"/>
              <a:t>[name@epam.com]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1D76A3-CD10-636D-E61F-EB95BB6A12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/>
              <a:t>[Phone]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E960C2-547D-B73A-72DA-198582EED7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[Location]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E818F59-47CE-7E82-AC3D-602B3586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805463445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Light 2023.1">
  <a:themeElements>
    <a:clrScheme name="EPAM Light Palette 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47FF"/>
      </a:accent2>
      <a:accent3>
        <a:srgbClr val="0078C2"/>
      </a:accent3>
      <a:accent4>
        <a:srgbClr val="8353D2"/>
      </a:accent4>
      <a:accent5>
        <a:srgbClr val="0134BB"/>
      </a:accent5>
      <a:accent6>
        <a:srgbClr val="107E8D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29520d-12ec-42e4-b043-269816a91755" xsi:nil="true"/>
    <lcf76f155ced4ddcb4097134ff3c332f xmlns="32ffb8b9-b7fc-4aab-9873-53396b75472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28E1D5709B20479E02E4DACF859060" ma:contentTypeVersion="13" ma:contentTypeDescription="Create a new document." ma:contentTypeScope="" ma:versionID="717510ec029f2739c3ef846a9dd7aa34">
  <xsd:schema xmlns:xsd="http://www.w3.org/2001/XMLSchema" xmlns:xs="http://www.w3.org/2001/XMLSchema" xmlns:p="http://schemas.microsoft.com/office/2006/metadata/properties" xmlns:ns2="32ffb8b9-b7fc-4aab-9873-53396b75472c" xmlns:ns3="8329520d-12ec-42e4-b043-269816a91755" targetNamespace="http://schemas.microsoft.com/office/2006/metadata/properties" ma:root="true" ma:fieldsID="2de90ad08931cd3d9fe339940b563454" ns2:_="" ns3:_="">
    <xsd:import namespace="32ffb8b9-b7fc-4aab-9873-53396b75472c"/>
    <xsd:import namespace="8329520d-12ec-42e4-b043-269816a9175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fb8b9-b7fc-4aab-9873-53396b75472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29520d-12ec-42e4-b043-269816a9175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c8d86b8-cecb-4421-b40e-297fd8a3250e}" ma:internalName="TaxCatchAll" ma:showField="CatchAllData" ma:web="8329520d-12ec-42e4-b043-269816a917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9A66CA-BB35-4AA4-B781-9BC18651DB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7DB376-2DEA-4BFF-9682-975215545CFE}">
  <ds:schemaRefs>
    <ds:schemaRef ds:uri="http://schemas.microsoft.com/office/2006/metadata/properties"/>
    <ds:schemaRef ds:uri="http://schemas.microsoft.com/office/infopath/2007/PartnerControls"/>
    <ds:schemaRef ds:uri="8329520d-12ec-42e4-b043-269816a91755"/>
    <ds:schemaRef ds:uri="32ffb8b9-b7fc-4aab-9873-53396b75472c"/>
  </ds:schemaRefs>
</ds:datastoreItem>
</file>

<file path=customXml/itemProps3.xml><?xml version="1.0" encoding="utf-8"?>
<ds:datastoreItem xmlns:ds="http://schemas.openxmlformats.org/officeDocument/2006/customXml" ds:itemID="{6B99F14F-BFFB-4B0C-A655-1B90733A3B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fb8b9-b7fc-4aab-9873-53396b75472c"/>
    <ds:schemaRef ds:uri="8329520d-12ec-42e4-b043-269816a917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1451</Words>
  <Application>Microsoft Office PowerPoint</Application>
  <PresentationFormat>Widescreen</PresentationFormat>
  <Paragraphs>258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Bold</vt:lpstr>
      <vt:lpstr>Calibri Light</vt:lpstr>
      <vt:lpstr>Courier New</vt:lpstr>
      <vt:lpstr>Human Sans</vt:lpstr>
      <vt:lpstr>EPAM Master Light 2023.1</vt:lpstr>
      <vt:lpstr>PowerPoint Presentation</vt:lpstr>
      <vt:lpstr>Executive summary</vt:lpstr>
      <vt:lpstr>Problem statement</vt:lpstr>
      <vt:lpstr>Proposed solution and scope</vt:lpstr>
      <vt:lpstr>Solution architecture</vt:lpstr>
      <vt:lpstr>AI workflow</vt:lpstr>
      <vt:lpstr>Technical approach</vt:lpstr>
      <vt:lpstr>Mock-up and user journey</vt:lpstr>
      <vt:lpstr>Business value</vt:lpstr>
      <vt:lpstr>PowerPoint Presentation</vt:lpstr>
      <vt:lpstr>Path to scale , USP and team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Krishna Siram</cp:lastModifiedBy>
  <cp:revision>22</cp:revision>
  <dcterms:created xsi:type="dcterms:W3CDTF">2020-10-26T14:33:58Z</dcterms:created>
  <dcterms:modified xsi:type="dcterms:W3CDTF">2026-09-29T13:24:19Z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0x010100E728E1D5709B20479E02E4DACF859060</vt:lpwstr>
  </property>
  <property fmtid="{D5CDD505-2E9C-101B-9397-08002B2CF9AE}" pid="3" name="MSIP_Label_2a535040-0af2-483f-adc3-a132c21e3e2b_Enabled">
    <vt:lpwstr>true</vt:lpwstr>
  </property>
  <property fmtid="{D5CDD505-2E9C-101B-9397-08002B2CF9AE}" pid="4" name="MSIP_Label_2a535040-0af2-483f-adc3-a132c21e3e2b_SetDate">
    <vt:lpwstr>2026-09-29T12:03:53Z</vt:lpwstr>
  </property>
  <property fmtid="{D5CDD505-2E9C-101B-9397-08002B2CF9AE}" pid="5" name="MSIP_Label_2a535040-0af2-483f-adc3-a132c21e3e2b_Method">
    <vt:lpwstr>Standard</vt:lpwstr>
  </property>
  <property fmtid="{D5CDD505-2E9C-101B-9397-08002B2CF9AE}" pid="6" name="MSIP_Label_2a535040-0af2-483f-adc3-a132c21e3e2b_Name">
    <vt:lpwstr>EPAM_Confidential</vt:lpwstr>
  </property>
  <property fmtid="{D5CDD505-2E9C-101B-9397-08002B2CF9AE}" pid="7" name="MSIP_Label_2a535040-0af2-483f-adc3-a132c21e3e2b_SiteId">
    <vt:lpwstr>b41b72d0-4e9f-4c26-8a69-f949f367c91d</vt:lpwstr>
  </property>
  <property fmtid="{D5CDD505-2E9C-101B-9397-08002B2CF9AE}" pid="8" name="MSIP_Label_2a535040-0af2-483f-adc3-a132c21e3e2b_ActionId">
    <vt:lpwstr>290722ac-be52-4b2e-bfb2-a83c33aa3d8d</vt:lpwstr>
  </property>
  <property fmtid="{D5CDD505-2E9C-101B-9397-08002B2CF9AE}" pid="9" name="MSIP_Label_2a535040-0af2-483f-adc3-a132c21e3e2b_ContentBits">
    <vt:lpwstr>0</vt:lpwstr>
  </property>
  <property fmtid="{D5CDD505-2E9C-101B-9397-08002B2CF9AE}" pid="10" name="MSIP_Label_2a535040-0af2-483f-adc3-a132c21e3e2b_Tag">
    <vt:lpwstr>50, 3, 0, 1</vt:lpwstr>
  </property>
</Properties>
</file>